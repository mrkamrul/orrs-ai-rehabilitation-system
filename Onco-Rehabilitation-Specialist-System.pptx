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Lato"/>
      <p:regular r:id="rId14"/>
    </p:embeddedFont>
    <p:embeddedFont>
      <p:font typeface="Lato"/>
      <p:regular r:id="rId15"/>
    </p:embeddedFont>
    <p:embeddedFont>
      <p:font typeface="Lato"/>
      <p:regular r:id="rId16"/>
    </p:embeddedFon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863" y="269319"/>
            <a:ext cx="1956673" cy="2154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17006" y="3328392"/>
            <a:ext cx="919626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Onco-Rehabilitation Specialist System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975735" y="4087892"/>
            <a:ext cx="667893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CIPN Prediction &amp; Personalized Rehabilitation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93790" y="4815007"/>
            <a:ext cx="13042821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Presented by: Md. Kamrul Hasan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5488305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Student ID: 221-16-654 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3790" y="607552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Supervisor: MD. Nasimul Kader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93790" y="666273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Department of Computing &amp; Information Systems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3790" y="7249954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Daffodil International University (DIU)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22960"/>
            <a:ext cx="1404342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90945"/>
            <a:ext cx="11321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9929"/>
            <a:ext cx="88178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ORRS? Bridging a Critical Gap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615684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Chemotherapy-Induced Peripheral Neuropathy (CIPN)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511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side effect: impacts walking, hand movement, daily life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3562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Healthcare focus: primarily cancer treatment, less on post-treatment rehab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33951" y="5337215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CIPN symptoms are often: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3951" y="5904190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Under-reported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951" y="6346388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Detected late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33951" y="6788587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Managed manually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37215"/>
            <a:ext cx="30480" cy="1814274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3" name="Text 11"/>
          <p:cNvSpPr/>
          <p:nvPr/>
        </p:nvSpPr>
        <p:spPr>
          <a:xfrm>
            <a:off x="7599521" y="2615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AI Opportunity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99521" y="31968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systems lack: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37638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 CIPN prediction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42060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Personalized rehabilitation plans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4772978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ORRS uses AI to fill this void, enhancing digital health technologies for oncology patients.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51178"/>
            <a:ext cx="1284684" cy="383738"/>
          </a:xfrm>
          <a:prstGeom prst="roundRect">
            <a:avLst>
              <a:gd name="adj" fmla="val 638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16186" y="912376"/>
            <a:ext cx="1039892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DISCOVERIES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16474"/>
            <a:ext cx="511206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Research Findings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3790" y="2566630"/>
            <a:ext cx="4211479" cy="1831896"/>
          </a:xfrm>
          <a:prstGeom prst="roundRect">
            <a:avLst>
              <a:gd name="adj" fmla="val 5990"/>
            </a:avLst>
          </a:prstGeom>
          <a:solidFill>
            <a:srgbClr val="EFECE6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2543770"/>
            <a:ext cx="4211479" cy="91440"/>
          </a:xfrm>
          <a:prstGeom prst="roundRect">
            <a:avLst>
              <a:gd name="adj" fmla="val 33488"/>
            </a:avLst>
          </a:prstGeom>
          <a:solidFill>
            <a:srgbClr val="282824"/>
          </a:solidFill>
          <a:ln/>
        </p:spPr>
      </p:sp>
      <p:sp>
        <p:nvSpPr>
          <p:cNvPr id="7" name="Shape 5"/>
          <p:cNvSpPr/>
          <p:nvPr/>
        </p:nvSpPr>
        <p:spPr>
          <a:xfrm>
            <a:off x="2593360" y="226052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2777073" y="241363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0723" y="3076932"/>
            <a:ext cx="301335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Enhanced CIPN Prediction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0723" y="3518178"/>
            <a:ext cx="3757613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Combining patient reports with functional test data significantly improves accuracy.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09342" y="2566630"/>
            <a:ext cx="4211598" cy="1831896"/>
          </a:xfrm>
          <a:prstGeom prst="roundRect">
            <a:avLst>
              <a:gd name="adj" fmla="val 5990"/>
            </a:avLst>
          </a:prstGeom>
          <a:solidFill>
            <a:srgbClr val="EFEC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9342" y="2543770"/>
            <a:ext cx="4211598" cy="91440"/>
          </a:xfrm>
          <a:prstGeom prst="roundRect">
            <a:avLst>
              <a:gd name="adj" fmla="val 33488"/>
            </a:avLst>
          </a:prstGeom>
          <a:solidFill>
            <a:srgbClr val="282824"/>
          </a:solidFill>
          <a:ln/>
        </p:spPr>
      </p:sp>
      <p:sp>
        <p:nvSpPr>
          <p:cNvPr id="13" name="Shape 11"/>
          <p:cNvSpPr/>
          <p:nvPr/>
        </p:nvSpPr>
        <p:spPr>
          <a:xfrm>
            <a:off x="7008912" y="226052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282824"/>
          </a:solidFill>
          <a:ln/>
        </p:spPr>
      </p:sp>
      <p:sp>
        <p:nvSpPr>
          <p:cNvPr id="14" name="Text 12"/>
          <p:cNvSpPr/>
          <p:nvPr/>
        </p:nvSpPr>
        <p:spPr>
          <a:xfrm>
            <a:off x="7192625" y="241363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436275" y="307693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Severity Classification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36275" y="3518178"/>
            <a:ext cx="375773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models classify CIPN into Mild, Moderate, or Severe with high confidence.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25013" y="2566630"/>
            <a:ext cx="4211598" cy="1831896"/>
          </a:xfrm>
          <a:prstGeom prst="roundRect">
            <a:avLst>
              <a:gd name="adj" fmla="val 5990"/>
            </a:avLst>
          </a:prstGeom>
          <a:solidFill>
            <a:srgbClr val="EFECE6"/>
          </a:solidFill>
          <a:ln/>
        </p:spPr>
      </p:sp>
      <p:sp>
        <p:nvSpPr>
          <p:cNvPr id="18" name="Shape 16"/>
          <p:cNvSpPr/>
          <p:nvPr/>
        </p:nvSpPr>
        <p:spPr>
          <a:xfrm>
            <a:off x="9625013" y="2543770"/>
            <a:ext cx="4211598" cy="91440"/>
          </a:xfrm>
          <a:prstGeom prst="roundRect">
            <a:avLst>
              <a:gd name="adj" fmla="val 33488"/>
            </a:avLst>
          </a:prstGeom>
          <a:solidFill>
            <a:srgbClr val="28282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24583" y="2260521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282824"/>
          </a:solidFill>
          <a:ln/>
        </p:spPr>
      </p:sp>
      <p:sp>
        <p:nvSpPr>
          <p:cNvPr id="20" name="Text 18"/>
          <p:cNvSpPr/>
          <p:nvPr/>
        </p:nvSpPr>
        <p:spPr>
          <a:xfrm>
            <a:off x="11608296" y="2413635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51946" y="3076932"/>
            <a:ext cx="291476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Personalized Rehab Plans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851946" y="3518178"/>
            <a:ext cx="375773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Weekly, adaptive plans are more effective than static exercise regimens.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3790" y="4908709"/>
            <a:ext cx="6419374" cy="1831896"/>
          </a:xfrm>
          <a:prstGeom prst="roundRect">
            <a:avLst>
              <a:gd name="adj" fmla="val 5990"/>
            </a:avLst>
          </a:prstGeom>
          <a:solidFill>
            <a:srgbClr val="EFECE6"/>
          </a:solidFill>
          <a:ln/>
        </p:spPr>
      </p:sp>
      <p:sp>
        <p:nvSpPr>
          <p:cNvPr id="24" name="Shape 22"/>
          <p:cNvSpPr/>
          <p:nvPr/>
        </p:nvSpPr>
        <p:spPr>
          <a:xfrm>
            <a:off x="793790" y="4885849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28282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97307" y="4602599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282824"/>
          </a:solidFill>
          <a:ln/>
        </p:spPr>
      </p:sp>
      <p:sp>
        <p:nvSpPr>
          <p:cNvPr id="26" name="Text 24"/>
          <p:cNvSpPr/>
          <p:nvPr/>
        </p:nvSpPr>
        <p:spPr>
          <a:xfrm>
            <a:off x="3881021" y="4755713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020723" y="541901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Hybrid AI Approach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20723" y="5860256"/>
            <a:ext cx="596550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Rule-based and Machine Learning integration ensures clinical safety, explainability, and trustworthiness.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17237" y="4908709"/>
            <a:ext cx="6419374" cy="1831896"/>
          </a:xfrm>
          <a:prstGeom prst="roundRect">
            <a:avLst>
              <a:gd name="adj" fmla="val 5990"/>
            </a:avLst>
          </a:prstGeom>
          <a:solidFill>
            <a:srgbClr val="EFECE6"/>
          </a:solidFill>
          <a:ln/>
        </p:spPr>
      </p:sp>
      <p:sp>
        <p:nvSpPr>
          <p:cNvPr id="30" name="Shape 28"/>
          <p:cNvSpPr/>
          <p:nvPr/>
        </p:nvSpPr>
        <p:spPr>
          <a:xfrm>
            <a:off x="7417237" y="4885849"/>
            <a:ext cx="6419374" cy="91440"/>
          </a:xfrm>
          <a:prstGeom prst="roundRect">
            <a:avLst>
              <a:gd name="adj" fmla="val 33488"/>
            </a:avLst>
          </a:prstGeom>
          <a:solidFill>
            <a:srgbClr val="2828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20754" y="4602599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282824"/>
          </a:solidFill>
          <a:ln/>
        </p:spPr>
      </p:sp>
      <p:sp>
        <p:nvSpPr>
          <p:cNvPr id="32" name="Text 30"/>
          <p:cNvSpPr/>
          <p:nvPr/>
        </p:nvSpPr>
        <p:spPr>
          <a:xfrm>
            <a:off x="10504468" y="4755713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644170" y="5419011"/>
            <a:ext cx="258258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Increased Engagement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44170" y="5860256"/>
            <a:ext cx="596550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 rehabilitation systems boost patient adherence and active participation.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3790" y="6970157"/>
            <a:ext cx="13042821" cy="40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ORRS demonstrates AI's safe and effective role in oncology rehabilitation support.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24595"/>
            <a:ext cx="849035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592580"/>
            <a:ext cx="5768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41565"/>
            <a:ext cx="7568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Technologies &amp; Platform Used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090505"/>
            <a:ext cx="680442" cy="6804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7720" y="3281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57720" y="3772257"/>
            <a:ext cx="54156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Web-based Patient Dashboard (NeuroTrack+)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90505"/>
            <a:ext cx="680442" cy="6804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20814" y="3281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420814" y="3772257"/>
            <a:ext cx="541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Java Spring Boot, REST APIs, JWT Authentication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588788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57720" y="4780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 &amp; ML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757720" y="5270540"/>
            <a:ext cx="5415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Python, FastAPI, ML models for CIPN Prediction &amp; Rehab Plan Generation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588788"/>
            <a:ext cx="680442" cy="6804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20814" y="4780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8420814" y="5270540"/>
            <a:ext cx="541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MySQL for structured medical &amp; AI datasets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793790" y="625149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Microservice architecture enables independent AI component improvements.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855" y="585668"/>
            <a:ext cx="1040725" cy="260033"/>
          </a:xfrm>
          <a:prstGeom prst="roundRect">
            <a:avLst>
              <a:gd name="adj" fmla="val 638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827842" y="627102"/>
            <a:ext cx="87475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FUNCTIONALITY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4855" y="900946"/>
            <a:ext cx="5779889" cy="43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Core System Features: ORRS at 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4855" y="1540669"/>
            <a:ext cx="553283" cy="829985"/>
          </a:xfrm>
          <a:prstGeom prst="roundRect">
            <a:avLst>
              <a:gd name="adj" fmla="val 360060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917734" y="1825943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6370" y="1678900"/>
            <a:ext cx="172926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Patient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36370" y="1977985"/>
            <a:ext cx="12449175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Registration and profile oversight.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4855" y="2508885"/>
            <a:ext cx="553283" cy="829985"/>
          </a:xfrm>
          <a:prstGeom prst="roundRect">
            <a:avLst>
              <a:gd name="adj" fmla="val 360060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917734" y="2794159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36370" y="2647117"/>
            <a:ext cx="172926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Symptom Tracking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36370" y="2946202"/>
            <a:ext cx="12449175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CIPN symptom monitoring.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4855" y="3477101"/>
            <a:ext cx="553283" cy="829985"/>
          </a:xfrm>
          <a:prstGeom prst="roundRect">
            <a:avLst>
              <a:gd name="adj" fmla="val 360060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917734" y="3762375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36370" y="3615333"/>
            <a:ext cx="1848088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Functional Assessments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36370" y="3914418"/>
            <a:ext cx="12449175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Gait &amp; dexterity evaluations.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4855" y="4445318"/>
            <a:ext cx="553283" cy="829985"/>
          </a:xfrm>
          <a:prstGeom prst="roundRect">
            <a:avLst>
              <a:gd name="adj" fmla="val 360060"/>
            </a:avLst>
          </a:prstGeom>
          <a:solidFill>
            <a:srgbClr val="E5DFD2"/>
          </a:solidFill>
          <a:ln/>
        </p:spPr>
      </p:sp>
      <p:sp>
        <p:nvSpPr>
          <p:cNvPr id="18" name="Text 16"/>
          <p:cNvSpPr/>
          <p:nvPr/>
        </p:nvSpPr>
        <p:spPr>
          <a:xfrm>
            <a:off x="917734" y="4730591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6370" y="4583549"/>
            <a:ext cx="172926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 Prediction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36370" y="4882634"/>
            <a:ext cx="12449175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CIPN severity prediction.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4855" y="5413534"/>
            <a:ext cx="553283" cy="829985"/>
          </a:xfrm>
          <a:prstGeom prst="roundRect">
            <a:avLst>
              <a:gd name="adj" fmla="val 360060"/>
            </a:avLst>
          </a:prstGeom>
          <a:solidFill>
            <a:srgbClr val="E5DFD2"/>
          </a:solidFill>
          <a:ln/>
        </p:spPr>
      </p:sp>
      <p:sp>
        <p:nvSpPr>
          <p:cNvPr id="22" name="Text 20"/>
          <p:cNvSpPr/>
          <p:nvPr/>
        </p:nvSpPr>
        <p:spPr>
          <a:xfrm>
            <a:off x="917734" y="5698808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6370" y="5551765"/>
            <a:ext cx="172926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Personalized Rehab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36370" y="5850850"/>
            <a:ext cx="12449175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Weekly plans: exercises, nutrition, safety.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4855" y="6381750"/>
            <a:ext cx="553283" cy="829985"/>
          </a:xfrm>
          <a:prstGeom prst="roundRect">
            <a:avLst>
              <a:gd name="adj" fmla="val 360060"/>
            </a:avLst>
          </a:prstGeom>
          <a:solidFill>
            <a:srgbClr val="E5DFD2"/>
          </a:solidFill>
          <a:ln/>
        </p:spPr>
      </p:sp>
      <p:sp>
        <p:nvSpPr>
          <p:cNvPr id="26" name="Text 24"/>
          <p:cNvSpPr/>
          <p:nvPr/>
        </p:nvSpPr>
        <p:spPr>
          <a:xfrm>
            <a:off x="917734" y="6667024"/>
            <a:ext cx="20740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36370" y="6519982"/>
            <a:ext cx="172926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Doctor Review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36370" y="6819067"/>
            <a:ext cx="12449175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High-risk case escalation.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4855" y="7367349"/>
            <a:ext cx="13140690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ORRS functions as an intelligent rehabilitation assistant, complementing clinical care.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63028"/>
            <a:ext cx="943689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31012"/>
            <a:ext cx="6715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79997"/>
            <a:ext cx="98282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Transforming Rehabilitation Outcomes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1557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Before ORRS: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8078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Delayed CIPN detection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500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Generic rehabilitation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6922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patient engagement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1344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manual workload for clinicians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1557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With ORRS: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38078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 &amp; accurate CIPN prediction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2500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Individualized, adaptive rehab plans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6922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Increased patient adherence &amp; empowerment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1344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Clinical support &amp; reduced burden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33951" y="6171962"/>
            <a:ext cx="87572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ORRS aims to significantly improve quality of life for cancer survivors.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3790" y="5831800"/>
            <a:ext cx="30480" cy="1034653"/>
          </a:xfrm>
          <a:prstGeom prst="rect">
            <a:avLst/>
          </a:prstGeom>
          <a:solidFill>
            <a:srgbClr val="28282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2233"/>
            <a:ext cx="968693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90218"/>
            <a:ext cx="6965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39203"/>
            <a:ext cx="89968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Looking Ahead: Next Steps &amp; Vision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2967514" y="228814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6" name="Text 4"/>
          <p:cNvSpPr/>
          <p:nvPr/>
        </p:nvSpPr>
        <p:spPr>
          <a:xfrm>
            <a:off x="3894892" y="274224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68052" y="2514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Clinical Validation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68052" y="3005376"/>
            <a:ext cx="6670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 trials to diverse patient populations and healthcare settings.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54585" y="3579852"/>
            <a:ext cx="8468678" cy="15240"/>
          </a:xfrm>
          <a:prstGeom prst="roundRect">
            <a:avLst>
              <a:gd name="adj" fmla="val 223256"/>
            </a:avLst>
          </a:prstGeom>
          <a:solidFill>
            <a:srgbClr val="CBC5B8"/>
          </a:solidFill>
          <a:ln/>
        </p:spPr>
      </p:sp>
      <p:sp>
        <p:nvSpPr>
          <p:cNvPr id="10" name="Shape 8"/>
          <p:cNvSpPr/>
          <p:nvPr/>
        </p:nvSpPr>
        <p:spPr>
          <a:xfrm>
            <a:off x="1880592" y="3708440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3894892" y="416254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454973" y="3935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 Expansion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54973" y="4425672"/>
            <a:ext cx="65059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 predictive analytics for other chemotherapy side effects.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341507" y="5000149"/>
            <a:ext cx="7381756" cy="15240"/>
          </a:xfrm>
          <a:prstGeom prst="roundRect">
            <a:avLst>
              <a:gd name="adj" fmla="val 223256"/>
            </a:avLst>
          </a:prstGeom>
          <a:solidFill>
            <a:srgbClr val="CBC5B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790" y="5128736"/>
            <a:ext cx="6521410" cy="1669852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011" y="576429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542014" y="5355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Global Reach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42014" y="5845969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 ORRS for multi-language support and varied healthcare infrastructures.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705373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vision: a future where AI empowers personalized, proactive onco-rehabilitation worldwide.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2026-01-04T03:23:51Z</dcterms:created>
  <dcterms:modified xsi:type="dcterms:W3CDTF">2026-01-04T03:23:51Z</dcterms:modified>
</cp:coreProperties>
</file>